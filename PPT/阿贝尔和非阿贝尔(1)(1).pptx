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4" r:id="rId7"/>
    <p:sldId id="265"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32" d="100"/>
          <a:sy n="132" d="100"/>
        </p:scale>
        <p:origin x="237" y="72"/>
      </p:cViewPr>
      <p:guideLst>
        <p:guide orient="horz" pos="2160"/>
        <p:guide pos="381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1D1853-2363-4100-B272-D8EF41E88B3D}" type="datetimeFigureOut">
              <a:rPr lang="zh-CN" altLang="en-US" smtClean="0"/>
              <a:t>2025/12/31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5FF3FB-7259-4A0B-8DE9-807E48392DD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2025/12/31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2025/12/31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2025/12/31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2025/12/31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2025/12/31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2025/12/31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2025/12/31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106785" y="602290"/>
            <a:ext cx="9592696" cy="5095125"/>
          </a:xfrm>
          <a:prstGeom prst="rect">
            <a:avLst/>
          </a:prstGeom>
        </p:spPr>
      </p:pic>
      <p:sp>
        <p:nvSpPr>
          <p:cNvPr id="2" name="文本框 1">
            <a:extLst>
              <a:ext uri="{FF2B5EF4-FFF2-40B4-BE49-F238E27FC236}">
                <a16:creationId xmlns:a16="http://schemas.microsoft.com/office/drawing/2014/main" id="{FD63955A-4723-F385-022B-7BD5BA459027}"/>
              </a:ext>
            </a:extLst>
          </p:cNvPr>
          <p:cNvSpPr txBox="1"/>
          <p:nvPr/>
        </p:nvSpPr>
        <p:spPr>
          <a:xfrm>
            <a:off x="7786881" y="5982907"/>
            <a:ext cx="1506071" cy="369332"/>
          </a:xfrm>
          <a:prstGeom prst="rect">
            <a:avLst/>
          </a:prstGeom>
          <a:noFill/>
        </p:spPr>
        <p:txBody>
          <a:bodyPr wrap="square" rtlCol="0">
            <a:spAutoFit/>
          </a:bodyPr>
          <a:lstStyle/>
          <a:p>
            <a:r>
              <a:rPr lang="zh-CN" altLang="en-US" dirty="0">
                <a:solidFill>
                  <a:srgbClr val="FF0000"/>
                </a:solidFill>
              </a:rPr>
              <a:t>大一点吧</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748665" y="4119245"/>
            <a:ext cx="4886960" cy="1623060"/>
          </a:xfrm>
          <a:prstGeom prst="rect">
            <a:avLst/>
          </a:prstGeom>
        </p:spPr>
      </p:pic>
      <p:pic>
        <p:nvPicPr>
          <p:cNvPr id="7" name="图片 6"/>
          <p:cNvPicPr>
            <a:picLocks noChangeAspect="1"/>
          </p:cNvPicPr>
          <p:nvPr/>
        </p:nvPicPr>
        <p:blipFill>
          <a:blip r:embed="rId3"/>
          <a:srcRect l="11445" t="8173"/>
          <a:stretch>
            <a:fillRect/>
          </a:stretch>
        </p:blipFill>
        <p:spPr>
          <a:xfrm>
            <a:off x="803275" y="580390"/>
            <a:ext cx="3592195" cy="2372360"/>
          </a:xfrm>
          <a:prstGeom prst="rect">
            <a:avLst/>
          </a:prstGeom>
        </p:spPr>
      </p:pic>
      <p:sp>
        <p:nvSpPr>
          <p:cNvPr id="9" name="文本框 8"/>
          <p:cNvSpPr txBox="1"/>
          <p:nvPr/>
        </p:nvSpPr>
        <p:spPr>
          <a:xfrm>
            <a:off x="459740" y="5742305"/>
            <a:ext cx="5340985" cy="511810"/>
          </a:xfrm>
          <a:prstGeom prst="rect">
            <a:avLst/>
          </a:prstGeom>
          <a:noFill/>
        </p:spPr>
        <p:txBody>
          <a:bodyPr wrap="square" rtlCol="0" anchor="t">
            <a:noAutofit/>
          </a:bodyPr>
          <a:lstStyle/>
          <a:p>
            <a:r>
              <a:rPr lang="zh-CN" altLang="en-US" sz="1400" dirty="0">
                <a:latin typeface="宋体" panose="02010600030101010101" pitchFamily="2" charset="-122"/>
                <a:ea typeface="宋体" panose="02010600030101010101" pitchFamily="2" charset="-122"/>
                <a:cs typeface="宋体" panose="02010600030101010101" pitchFamily="2" charset="-122"/>
              </a:rPr>
              <a:t>其中包含</a:t>
            </a:r>
            <a:r>
              <a:rPr lang="en-US" altLang="zh-CN" sz="1400" dirty="0">
                <a:latin typeface="Times New Roman" panose="02020603050405020304" charset="0"/>
                <a:ea typeface="宋体" panose="02010600030101010101" pitchFamily="2" charset="-122"/>
                <a:cs typeface="Times New Roman" panose="02020603050405020304" charset="0"/>
              </a:rPr>
              <a:t>A,B,C,D</a:t>
            </a:r>
            <a:r>
              <a:rPr lang="zh-CN" altLang="en-US" sz="1400" dirty="0">
                <a:latin typeface="宋体" panose="02010600030101010101" pitchFamily="2" charset="-122"/>
                <a:ea typeface="宋体" panose="02010600030101010101" pitchFamily="2" charset="-122"/>
                <a:cs typeface="宋体" panose="02010600030101010101" pitchFamily="2" charset="-122"/>
              </a:rPr>
              <a:t>四个相互作用项</a:t>
            </a:r>
            <a:r>
              <a:rPr lang="en-US" altLang="zh-CN" sz="1400" dirty="0">
                <a:latin typeface="宋体" panose="02010600030101010101" pitchFamily="2" charset="-122"/>
                <a:ea typeface="宋体" panose="02010600030101010101" pitchFamily="2" charset="-122"/>
                <a:cs typeface="宋体" panose="02010600030101010101" pitchFamily="2" charset="-122"/>
              </a:rPr>
              <a:t> </a:t>
            </a:r>
            <a:r>
              <a:rPr lang="zh-CN" altLang="en-US" sz="1400" dirty="0">
                <a:latin typeface="宋体" panose="02010600030101010101" pitchFamily="2" charset="-122"/>
                <a:ea typeface="宋体" panose="02010600030101010101" pitchFamily="2" charset="-122"/>
                <a:cs typeface="宋体" panose="02010600030101010101" pitchFamily="2" charset="-122"/>
              </a:rPr>
              <a:t>耦合强度</a:t>
            </a:r>
            <a:r>
              <a:rPr lang="en-US" altLang="zh-CN" sz="1400" dirty="0">
                <a:latin typeface="Times New Roman" panose="02020603050405020304" charset="0"/>
                <a:ea typeface="宋体" panose="02010600030101010101" pitchFamily="2" charset="-122"/>
                <a:cs typeface="Times New Roman" panose="02020603050405020304" charset="0"/>
              </a:rPr>
              <a:t>K</a:t>
            </a:r>
            <a:r>
              <a:rPr lang="en-US" altLang="zh-CN" sz="900" dirty="0">
                <a:latin typeface="Times New Roman" panose="02020603050405020304" charset="0"/>
                <a:ea typeface="宋体" panose="02010600030101010101" pitchFamily="2" charset="-122"/>
                <a:cs typeface="Times New Roman" panose="02020603050405020304" charset="0"/>
              </a:rPr>
              <a:t>B</a:t>
            </a:r>
            <a:r>
              <a:rPr lang="en-US" altLang="zh-CN" sz="1400" dirty="0">
                <a:latin typeface="Times New Roman" panose="02020603050405020304" charset="0"/>
                <a:ea typeface="宋体" panose="02010600030101010101" pitchFamily="2" charset="-122"/>
                <a:cs typeface="Times New Roman" panose="02020603050405020304" charset="0"/>
              </a:rPr>
              <a:t>,K</a:t>
            </a:r>
            <a:r>
              <a:rPr lang="en-US" altLang="zh-CN" sz="900" dirty="0">
                <a:latin typeface="Times New Roman" panose="02020603050405020304" charset="0"/>
                <a:ea typeface="宋体" panose="02010600030101010101" pitchFamily="2" charset="-122"/>
                <a:cs typeface="Times New Roman" panose="02020603050405020304" charset="0"/>
              </a:rPr>
              <a:t>C</a:t>
            </a:r>
            <a:r>
              <a:rPr lang="en-US" altLang="zh-CN" sz="1400" dirty="0">
                <a:latin typeface="Times New Roman" panose="02020603050405020304" charset="0"/>
                <a:ea typeface="宋体" panose="02010600030101010101" pitchFamily="2" charset="-122"/>
                <a:cs typeface="Times New Roman" panose="02020603050405020304" charset="0"/>
              </a:rPr>
              <a:t>,K</a:t>
            </a:r>
            <a:r>
              <a:rPr lang="en-US" altLang="zh-CN" sz="900" dirty="0">
                <a:latin typeface="Times New Roman" panose="02020603050405020304" charset="0"/>
                <a:ea typeface="宋体" panose="02010600030101010101" pitchFamily="2" charset="-122"/>
                <a:cs typeface="Times New Roman" panose="02020603050405020304" charset="0"/>
              </a:rPr>
              <a:t>D</a:t>
            </a:r>
            <a:r>
              <a:rPr lang="zh-CN" altLang="en-US" sz="1400" dirty="0">
                <a:latin typeface="Times New Roman" panose="02020603050405020304" charset="0"/>
                <a:ea typeface="宋体" panose="02010600030101010101" pitchFamily="2" charset="-122"/>
                <a:cs typeface="Times New Roman" panose="02020603050405020304" charset="0"/>
              </a:rPr>
              <a:t>能级修正项</a:t>
            </a:r>
            <a:r>
              <a:rPr lang="en-US" altLang="zh-CN" sz="1400" dirty="0">
                <a:latin typeface="Times New Roman" panose="02020603050405020304" charset="0"/>
                <a:ea typeface="宋体" panose="02010600030101010101" pitchFamily="2" charset="-122"/>
                <a:cs typeface="Times New Roman" panose="02020603050405020304" charset="0"/>
              </a:rPr>
              <a:t>β</a:t>
            </a:r>
            <a:r>
              <a:rPr lang="en-US" altLang="zh-CN" sz="900" dirty="0">
                <a:latin typeface="Times New Roman" panose="02020603050405020304" charset="0"/>
                <a:ea typeface="宋体" panose="02010600030101010101" pitchFamily="2" charset="-122"/>
                <a:cs typeface="Times New Roman" panose="02020603050405020304" charset="0"/>
              </a:rPr>
              <a:t>0</a:t>
            </a:r>
            <a:endParaRPr lang="en-US" altLang="zh-CN" sz="1400" dirty="0">
              <a:latin typeface="Times New Roman" panose="02020603050405020304" charset="0"/>
              <a:ea typeface="宋体" panose="02010600030101010101" pitchFamily="2" charset="-122"/>
              <a:cs typeface="Times New Roman" panose="02020603050405020304" charset="0"/>
            </a:endParaRPr>
          </a:p>
          <a:p>
            <a:endParaRPr lang="zh-CN" altLang="en-US" sz="1400" dirty="0">
              <a:latin typeface="Times New Roman" panose="02020603050405020304" charset="0"/>
              <a:ea typeface="宋体" panose="02010600030101010101" pitchFamily="2" charset="-122"/>
              <a:cs typeface="Times New Roman" panose="02020603050405020304" charset="0"/>
            </a:endParaRPr>
          </a:p>
        </p:txBody>
      </p:sp>
      <p:sp>
        <p:nvSpPr>
          <p:cNvPr id="10" name="文本框 9"/>
          <p:cNvSpPr txBox="1"/>
          <p:nvPr/>
        </p:nvSpPr>
        <p:spPr>
          <a:xfrm>
            <a:off x="237490" y="2849880"/>
            <a:ext cx="5563235" cy="579755"/>
          </a:xfrm>
          <a:prstGeom prst="rect">
            <a:avLst/>
          </a:prstGeom>
          <a:noFill/>
        </p:spPr>
        <p:txBody>
          <a:bodyPr wrap="square" rtlCol="0" anchor="t">
            <a:noAutofit/>
          </a:bodyPr>
          <a:lstStyle/>
          <a:p>
            <a:r>
              <a:rPr lang="zh-CN" altLang="en-US" sz="1400" dirty="0">
                <a:latin typeface="Times New Roman" panose="02020603050405020304" charset="0"/>
                <a:ea typeface="宋体" panose="02010600030101010101" pitchFamily="2" charset="-122"/>
                <a:cs typeface="Times New Roman" panose="02020603050405020304" charset="0"/>
                <a:sym typeface="+mn-ea"/>
              </a:rPr>
              <a:t>图中展示了包含</a:t>
            </a:r>
            <a:r>
              <a:rPr lang="en-US" altLang="zh-CN" sz="1400" dirty="0">
                <a:latin typeface="Times New Roman" panose="02020603050405020304" charset="0"/>
                <a:ea typeface="宋体" panose="02010600030101010101" pitchFamily="2" charset="-122"/>
                <a:cs typeface="Times New Roman" panose="02020603050405020304" charset="0"/>
                <a:sym typeface="+mn-ea"/>
              </a:rPr>
              <a:t>N</a:t>
            </a:r>
            <a:r>
              <a:rPr lang="zh-CN" altLang="en-US" sz="1400" dirty="0">
                <a:latin typeface="Times New Roman" panose="02020603050405020304" charset="0"/>
                <a:ea typeface="宋体" panose="02010600030101010101" pitchFamily="2" charset="-122"/>
                <a:cs typeface="Times New Roman" panose="02020603050405020304" charset="0"/>
                <a:sym typeface="+mn-ea"/>
              </a:rPr>
              <a:t>个单元格的</a:t>
            </a:r>
            <a:r>
              <a:rPr lang="en-US" altLang="zh-CN" sz="1400" dirty="0">
                <a:latin typeface="Times New Roman" panose="02020603050405020304" charset="0"/>
                <a:ea typeface="宋体" panose="02010600030101010101" pitchFamily="2" charset="-122"/>
                <a:cs typeface="Times New Roman" panose="02020603050405020304" charset="0"/>
                <a:sym typeface="+mn-ea"/>
              </a:rPr>
              <a:t>Lieb</a:t>
            </a:r>
            <a:r>
              <a:rPr lang="zh-CN" altLang="en-US" sz="1400" dirty="0">
                <a:latin typeface="Times New Roman" panose="02020603050405020304" charset="0"/>
                <a:ea typeface="宋体" panose="02010600030101010101" pitchFamily="2" charset="-122"/>
                <a:cs typeface="Times New Roman" panose="02020603050405020304" charset="0"/>
                <a:sym typeface="+mn-ea"/>
              </a:rPr>
              <a:t>网格结构，每个单元格由四个波导组成单元格包含</a:t>
            </a:r>
            <a:r>
              <a:rPr lang="en-US" altLang="zh-CN" sz="1400" dirty="0">
                <a:latin typeface="Times New Roman" panose="02020603050405020304" charset="0"/>
                <a:ea typeface="宋体" panose="02010600030101010101" pitchFamily="2" charset="-122"/>
                <a:cs typeface="Times New Roman" panose="02020603050405020304" charset="0"/>
                <a:sym typeface="+mn-ea"/>
              </a:rPr>
              <a:t>A,B,C,D</a:t>
            </a:r>
            <a:r>
              <a:rPr lang="zh-CN" altLang="en-US" sz="1400" dirty="0">
                <a:latin typeface="Times New Roman" panose="02020603050405020304" charset="0"/>
                <a:ea typeface="宋体" panose="02010600030101010101" pitchFamily="2" charset="-122"/>
                <a:cs typeface="Times New Roman" panose="02020603050405020304" charset="0"/>
                <a:sym typeface="+mn-ea"/>
              </a:rPr>
              <a:t>四个部分。</a:t>
            </a:r>
          </a:p>
        </p:txBody>
      </p:sp>
      <p:sp>
        <p:nvSpPr>
          <p:cNvPr id="3" name="文本框 2"/>
          <p:cNvSpPr txBox="1"/>
          <p:nvPr/>
        </p:nvSpPr>
        <p:spPr>
          <a:xfrm>
            <a:off x="107950" y="92710"/>
            <a:ext cx="1567180" cy="392430"/>
          </a:xfrm>
          <a:prstGeom prst="rect">
            <a:avLst/>
          </a:prstGeom>
          <a:noFill/>
        </p:spPr>
        <p:txBody>
          <a:bodyPr wrap="square">
            <a:noAutofit/>
          </a:bodyPr>
          <a:lstStyle/>
          <a:p>
            <a:pPr marL="342900" indent="-342900">
              <a:buFont typeface="Wingdings" panose="05000000000000000000" pitchFamily="2" charset="2"/>
              <a:buChar char="Ø"/>
            </a:pPr>
            <a:r>
              <a:rPr lang="zh-CN" altLang="en-US" sz="2000" dirty="0">
                <a:solidFill>
                  <a:srgbClr val="FF0000"/>
                </a:solidFill>
              </a:rPr>
              <a:t>结构图</a:t>
            </a:r>
          </a:p>
        </p:txBody>
      </p:sp>
      <p:pic>
        <p:nvPicPr>
          <p:cNvPr id="6" name="图片 5"/>
          <p:cNvPicPr>
            <a:picLocks noChangeAspect="1"/>
          </p:cNvPicPr>
          <p:nvPr/>
        </p:nvPicPr>
        <p:blipFill>
          <a:blip r:embed="rId4"/>
          <a:srcRect l="6026" t="200"/>
          <a:stretch>
            <a:fillRect/>
          </a:stretch>
        </p:blipFill>
        <p:spPr>
          <a:xfrm>
            <a:off x="6697980" y="412115"/>
            <a:ext cx="3970655" cy="2540635"/>
          </a:xfrm>
          <a:prstGeom prst="rect">
            <a:avLst/>
          </a:prstGeom>
        </p:spPr>
      </p:pic>
      <p:sp>
        <p:nvSpPr>
          <p:cNvPr id="12" name="文本框 11"/>
          <p:cNvSpPr txBox="1"/>
          <p:nvPr/>
        </p:nvSpPr>
        <p:spPr>
          <a:xfrm>
            <a:off x="107950" y="3578225"/>
            <a:ext cx="1567180" cy="392430"/>
          </a:xfrm>
          <a:prstGeom prst="rect">
            <a:avLst/>
          </a:prstGeom>
          <a:noFill/>
        </p:spPr>
        <p:txBody>
          <a:bodyPr wrap="square">
            <a:noAutofit/>
          </a:bodyPr>
          <a:lstStyle/>
          <a:p>
            <a:pPr marL="342900" indent="-342900">
              <a:buFont typeface="Wingdings" panose="05000000000000000000" pitchFamily="2" charset="2"/>
              <a:buChar char="Ø"/>
            </a:pPr>
            <a:r>
              <a:rPr lang="zh-CN" altLang="en-US" sz="2000" dirty="0">
                <a:solidFill>
                  <a:srgbClr val="FF0000"/>
                </a:solidFill>
              </a:rPr>
              <a:t>哈密顿量</a:t>
            </a:r>
          </a:p>
        </p:txBody>
      </p:sp>
      <p:pic>
        <p:nvPicPr>
          <p:cNvPr id="14" name="图片 13"/>
          <p:cNvPicPr>
            <a:picLocks noChangeAspect="1"/>
          </p:cNvPicPr>
          <p:nvPr/>
        </p:nvPicPr>
        <p:blipFill>
          <a:blip r:embed="rId5"/>
          <a:srcRect l="2869" t="4947"/>
          <a:stretch>
            <a:fillRect/>
          </a:stretch>
        </p:blipFill>
        <p:spPr>
          <a:xfrm>
            <a:off x="6697980" y="3578225"/>
            <a:ext cx="4902200" cy="2379345"/>
          </a:xfrm>
          <a:prstGeom prst="rect">
            <a:avLst/>
          </a:prstGeom>
        </p:spPr>
      </p:pic>
      <p:sp>
        <p:nvSpPr>
          <p:cNvPr id="15" name="文本框 14"/>
          <p:cNvSpPr txBox="1"/>
          <p:nvPr/>
        </p:nvSpPr>
        <p:spPr>
          <a:xfrm>
            <a:off x="5762625" y="14605"/>
            <a:ext cx="4868545" cy="392430"/>
          </a:xfrm>
          <a:prstGeom prst="rect">
            <a:avLst/>
          </a:prstGeom>
          <a:noFill/>
        </p:spPr>
        <p:txBody>
          <a:bodyPr wrap="square">
            <a:noAutofit/>
          </a:bodyPr>
          <a:lstStyle/>
          <a:p>
            <a:pPr marL="342900" indent="-342900">
              <a:buFont typeface="Wingdings" panose="05000000000000000000" pitchFamily="2" charset="2"/>
              <a:buChar char="Ø"/>
            </a:pPr>
            <a:r>
              <a:rPr lang="zh-CN" altLang="en-US" sz="2000" dirty="0">
                <a:solidFill>
                  <a:srgbClr val="FF0000"/>
                </a:solidFill>
              </a:rPr>
              <a:t>周期性耦合常数与间距变化的示意图</a:t>
            </a:r>
          </a:p>
        </p:txBody>
      </p:sp>
      <p:sp>
        <p:nvSpPr>
          <p:cNvPr id="16" name="文本框 15"/>
          <p:cNvSpPr txBox="1"/>
          <p:nvPr/>
        </p:nvSpPr>
        <p:spPr>
          <a:xfrm>
            <a:off x="6560185" y="2907665"/>
            <a:ext cx="4801235" cy="521970"/>
          </a:xfrm>
          <a:prstGeom prst="rect">
            <a:avLst/>
          </a:prstGeom>
        </p:spPr>
        <p:txBody>
          <a:bodyPr wrap="square">
            <a:spAutoFit/>
          </a:bodyPr>
          <a:lstStyle/>
          <a:p>
            <a:r>
              <a:rPr lang="zh-CN" altLang="en-US" sz="1400">
                <a:latin typeface="宋体" panose="02010600030101010101" pitchFamily="2" charset="-122"/>
                <a:ea typeface="宋体" panose="02010600030101010101" pitchFamily="2" charset="-122"/>
                <a:cs typeface="宋体" panose="02010600030101010101" pitchFamily="2" charset="-122"/>
              </a:rPr>
              <a:t>图中说明了利用波导间距的几何设计来精确映射所需的耦合强度序列，从而物理实现拓扑泵浦。</a:t>
            </a:r>
          </a:p>
        </p:txBody>
      </p:sp>
      <p:sp>
        <p:nvSpPr>
          <p:cNvPr id="17" name="文本框 16"/>
          <p:cNvSpPr txBox="1"/>
          <p:nvPr/>
        </p:nvSpPr>
        <p:spPr>
          <a:xfrm>
            <a:off x="6520180" y="5930582"/>
            <a:ext cx="5080000" cy="521970"/>
          </a:xfrm>
          <a:prstGeom prst="rect">
            <a:avLst/>
          </a:prstGeom>
        </p:spPr>
        <p:txBody>
          <a:bodyPr>
            <a:spAutoFit/>
          </a:bodyPr>
          <a:lstStyle/>
          <a:p>
            <a:r>
              <a:rPr lang="zh-CN" altLang="en-US" sz="1400">
                <a:latin typeface="宋体" panose="02010600030101010101" pitchFamily="2" charset="-122"/>
                <a:ea typeface="宋体" panose="02010600030101010101" pitchFamily="2" charset="-122"/>
                <a:cs typeface="宋体" panose="02010600030101010101" pitchFamily="2" charset="-122"/>
              </a:rPr>
              <a:t>耦合系数在参数空间中沿逆时针和顺时针路径的变化，体现了</a:t>
            </a:r>
            <a:r>
              <a:rPr lang="en-US" altLang="zh-CN" sz="1400">
                <a:latin typeface="Times New Roman" panose="02020603050405020304" charset="0"/>
                <a:ea typeface="宋体" panose="02010600030101010101" pitchFamily="2" charset="-122"/>
                <a:cs typeface="Times New Roman" panose="02020603050405020304" charset="0"/>
              </a:rPr>
              <a:t>Thouless</a:t>
            </a:r>
            <a:r>
              <a:rPr lang="zh-CN" altLang="en-US" sz="1400">
                <a:latin typeface="宋体" panose="02010600030101010101" pitchFamily="2" charset="-122"/>
                <a:ea typeface="宋体" panose="02010600030101010101" pitchFamily="2" charset="-122"/>
                <a:cs typeface="宋体" panose="02010600030101010101" pitchFamily="2" charset="-122"/>
              </a:rPr>
              <a:t>泵浦的非阿贝尔特性，即泵浦顺序影响能量传输路径。</a:t>
            </a:r>
          </a:p>
        </p:txBody>
      </p:sp>
      <p:sp>
        <p:nvSpPr>
          <p:cNvPr id="2" name="文本框 1">
            <a:extLst>
              <a:ext uri="{FF2B5EF4-FFF2-40B4-BE49-F238E27FC236}">
                <a16:creationId xmlns:a16="http://schemas.microsoft.com/office/drawing/2014/main" id="{4A6C57AD-820B-FE9A-4B9E-F75DC6E23205}"/>
              </a:ext>
            </a:extLst>
          </p:cNvPr>
          <p:cNvSpPr txBox="1"/>
          <p:nvPr/>
        </p:nvSpPr>
        <p:spPr>
          <a:xfrm>
            <a:off x="5983044" y="1628854"/>
            <a:ext cx="1506071" cy="1200329"/>
          </a:xfrm>
          <a:prstGeom prst="rect">
            <a:avLst/>
          </a:prstGeom>
          <a:noFill/>
        </p:spPr>
        <p:txBody>
          <a:bodyPr wrap="square" rtlCol="0">
            <a:spAutoFit/>
          </a:bodyPr>
          <a:lstStyle/>
          <a:p>
            <a:r>
              <a:rPr lang="zh-CN" altLang="en-US" dirty="0">
                <a:solidFill>
                  <a:srgbClr val="FF0000"/>
                </a:solidFill>
              </a:rPr>
              <a:t>先有图的现象，然后结论，缺少现象</a:t>
            </a:r>
          </a:p>
        </p:txBody>
      </p:sp>
      <p:sp>
        <p:nvSpPr>
          <p:cNvPr id="4" name="文本框 3">
            <a:extLst>
              <a:ext uri="{FF2B5EF4-FFF2-40B4-BE49-F238E27FC236}">
                <a16:creationId xmlns:a16="http://schemas.microsoft.com/office/drawing/2014/main" id="{A190F59B-781C-7365-8244-BF48C7AADF5F}"/>
              </a:ext>
            </a:extLst>
          </p:cNvPr>
          <p:cNvSpPr txBox="1"/>
          <p:nvPr/>
        </p:nvSpPr>
        <p:spPr>
          <a:xfrm>
            <a:off x="5494021" y="4276209"/>
            <a:ext cx="1506071" cy="923330"/>
          </a:xfrm>
          <a:prstGeom prst="rect">
            <a:avLst/>
          </a:prstGeom>
          <a:noFill/>
        </p:spPr>
        <p:txBody>
          <a:bodyPr wrap="square" rtlCol="0">
            <a:spAutoFit/>
          </a:bodyPr>
          <a:lstStyle/>
          <a:p>
            <a:r>
              <a:rPr lang="zh-CN" altLang="en-US" dirty="0">
                <a:solidFill>
                  <a:srgbClr val="FF0000"/>
                </a:solidFill>
              </a:rPr>
              <a:t>先有图的现象，然后结论</a:t>
            </a:r>
          </a:p>
        </p:txBody>
      </p:sp>
      <p:sp>
        <p:nvSpPr>
          <p:cNvPr id="21" name="文本框 20">
            <a:extLst>
              <a:ext uri="{FF2B5EF4-FFF2-40B4-BE49-F238E27FC236}">
                <a16:creationId xmlns:a16="http://schemas.microsoft.com/office/drawing/2014/main" id="{EA5DDE67-B383-2CC8-2C10-82293069461C}"/>
              </a:ext>
            </a:extLst>
          </p:cNvPr>
          <p:cNvSpPr txBox="1"/>
          <p:nvPr/>
        </p:nvSpPr>
        <p:spPr>
          <a:xfrm>
            <a:off x="3325718" y="2427923"/>
            <a:ext cx="1506071" cy="1477328"/>
          </a:xfrm>
          <a:prstGeom prst="rect">
            <a:avLst/>
          </a:prstGeom>
          <a:noFill/>
        </p:spPr>
        <p:txBody>
          <a:bodyPr wrap="square" rtlCol="0">
            <a:spAutoFit/>
          </a:bodyPr>
          <a:lstStyle/>
          <a:p>
            <a:r>
              <a:rPr lang="zh-CN" altLang="en-US" dirty="0">
                <a:solidFill>
                  <a:srgbClr val="FF0000"/>
                </a:solidFill>
              </a:rPr>
              <a:t>关键词可以多查资料补充一下，比如这个</a:t>
            </a:r>
            <a:r>
              <a:rPr lang="en-US" altLang="zh-CN" dirty="0" err="1">
                <a:solidFill>
                  <a:srgbClr val="FF0000"/>
                </a:solidFill>
              </a:rPr>
              <a:t>lieb</a:t>
            </a:r>
            <a:r>
              <a:rPr lang="zh-CN" altLang="en-US" dirty="0">
                <a:solidFill>
                  <a:srgbClr val="FF0000"/>
                </a:solidFill>
              </a:rPr>
              <a:t>模型</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1075055" y="542290"/>
            <a:ext cx="8833485" cy="3740150"/>
          </a:xfrm>
          <a:prstGeom prst="rect">
            <a:avLst/>
          </a:prstGeom>
        </p:spPr>
      </p:pic>
      <p:sp>
        <p:nvSpPr>
          <p:cNvPr id="12" name="文本框 11"/>
          <p:cNvSpPr txBox="1"/>
          <p:nvPr/>
        </p:nvSpPr>
        <p:spPr>
          <a:xfrm>
            <a:off x="522605" y="264160"/>
            <a:ext cx="1567180" cy="392430"/>
          </a:xfrm>
          <a:prstGeom prst="rect">
            <a:avLst/>
          </a:prstGeom>
          <a:noFill/>
        </p:spPr>
        <p:txBody>
          <a:bodyPr wrap="square">
            <a:noAutofit/>
          </a:bodyPr>
          <a:lstStyle/>
          <a:p>
            <a:pPr marL="342900" indent="-342900">
              <a:buFont typeface="Wingdings" panose="05000000000000000000" pitchFamily="2" charset="2"/>
              <a:buChar char="Ø"/>
            </a:pPr>
            <a:endParaRPr lang="zh-CN" altLang="en-US" sz="2000" dirty="0">
              <a:solidFill>
                <a:srgbClr val="FF0000"/>
              </a:solidFill>
            </a:endParaRPr>
          </a:p>
        </p:txBody>
      </p:sp>
      <p:sp>
        <p:nvSpPr>
          <p:cNvPr id="9" name="文本框 8"/>
          <p:cNvSpPr txBox="1"/>
          <p:nvPr/>
        </p:nvSpPr>
        <p:spPr>
          <a:xfrm>
            <a:off x="107950" y="92710"/>
            <a:ext cx="2840355" cy="392430"/>
          </a:xfrm>
          <a:prstGeom prst="rect">
            <a:avLst/>
          </a:prstGeom>
          <a:noFill/>
        </p:spPr>
        <p:txBody>
          <a:bodyPr wrap="square">
            <a:noAutofit/>
          </a:bodyPr>
          <a:lstStyle/>
          <a:p>
            <a:pPr marL="342900" indent="-342900">
              <a:buFont typeface="Wingdings" panose="05000000000000000000" pitchFamily="2" charset="2"/>
              <a:buChar char="Ø"/>
            </a:pPr>
            <a:r>
              <a:rPr lang="zh-CN" altLang="en-US" sz="2000" dirty="0">
                <a:solidFill>
                  <a:srgbClr val="FF0000"/>
                </a:solidFill>
              </a:rPr>
              <a:t>能带演化与绝热输运</a:t>
            </a:r>
          </a:p>
        </p:txBody>
      </p:sp>
      <p:sp>
        <p:nvSpPr>
          <p:cNvPr id="10" name="文本框 9"/>
          <p:cNvSpPr txBox="1"/>
          <p:nvPr/>
        </p:nvSpPr>
        <p:spPr>
          <a:xfrm>
            <a:off x="1154430" y="4282440"/>
            <a:ext cx="4490085" cy="521970"/>
          </a:xfrm>
          <a:prstGeom prst="rect">
            <a:avLst/>
          </a:prstGeom>
        </p:spPr>
        <p:txBody>
          <a:bodyPr wrap="square">
            <a:spAutoFit/>
          </a:bodyPr>
          <a:lstStyle/>
          <a:p>
            <a:r>
              <a:rPr lang="zh-CN" sz="1400" dirty="0">
                <a:latin typeface="宋体" panose="02010600030101010101" pitchFamily="2" charset="-122"/>
                <a:ea typeface="宋体" panose="02010600030101010101" pitchFamily="2" charset="-122"/>
                <a:cs typeface="宋体" panose="02010600030101010101" pitchFamily="2" charset="-122"/>
              </a:rPr>
              <a:t>这幅图主要说明这个演化过程是绝热的，并且这个过程存在较大的能隙，然后还具有手征对称性。</a:t>
            </a:r>
          </a:p>
        </p:txBody>
      </p:sp>
      <p:sp>
        <p:nvSpPr>
          <p:cNvPr id="11" name="文本框 10"/>
          <p:cNvSpPr txBox="1"/>
          <p:nvPr/>
        </p:nvSpPr>
        <p:spPr>
          <a:xfrm>
            <a:off x="6096000" y="4339590"/>
            <a:ext cx="4266565" cy="681990"/>
          </a:xfrm>
          <a:prstGeom prst="rect">
            <a:avLst/>
          </a:prstGeom>
          <a:noFill/>
        </p:spPr>
        <p:txBody>
          <a:bodyPr wrap="square" rtlCol="0" anchor="t">
            <a:noAutofit/>
          </a:bodyPr>
          <a:lstStyle/>
          <a:p>
            <a:r>
              <a:rPr lang="zh-CN" sz="1400" dirty="0">
                <a:latin typeface="宋体" panose="02010600030101010101" pitchFamily="2" charset="-122"/>
                <a:ea typeface="宋体" panose="02010600030101010101" pitchFamily="2" charset="-122"/>
                <a:cs typeface="宋体" panose="02010600030101010101" pitchFamily="2" charset="-122"/>
                <a:sym typeface="+mn-ea"/>
              </a:rPr>
              <a:t>上图显示了泵浦过程，从</a:t>
            </a:r>
            <a:r>
              <a:rPr lang="en-US" altLang="zh-CN" sz="1400" dirty="0">
                <a:latin typeface="Times New Roman" panose="02020603050405020304" charset="0"/>
                <a:ea typeface="宋体" panose="02010600030101010101" pitchFamily="2" charset="-122"/>
                <a:cs typeface="Times New Roman" panose="02020603050405020304" charset="0"/>
                <a:sym typeface="+mn-ea"/>
              </a:rPr>
              <a:t>i+1</a:t>
            </a:r>
            <a:r>
              <a:rPr lang="zh-CN" altLang="en-US" sz="1400" dirty="0">
                <a:latin typeface="宋体" panose="02010600030101010101" pitchFamily="2" charset="-122"/>
                <a:ea typeface="宋体" panose="02010600030101010101" pitchFamily="2" charset="-122"/>
                <a:cs typeface="宋体" panose="02010600030101010101" pitchFamily="2" charset="-122"/>
                <a:sym typeface="+mn-ea"/>
              </a:rPr>
              <a:t>到</a:t>
            </a:r>
            <a:r>
              <a:rPr lang="en-US" altLang="zh-CN" sz="1400" dirty="0" err="1">
                <a:latin typeface="Times New Roman" panose="02020603050405020304" charset="0"/>
                <a:ea typeface="宋体" panose="02010600030101010101" pitchFamily="2" charset="-122"/>
                <a:cs typeface="Times New Roman" panose="02020603050405020304" charset="0"/>
                <a:sym typeface="+mn-ea"/>
              </a:rPr>
              <a:t>i</a:t>
            </a:r>
            <a:r>
              <a:rPr lang="zh-CN" altLang="en-US" sz="1400" dirty="0">
                <a:latin typeface="宋体" panose="02010600030101010101" pitchFamily="2" charset="-122"/>
                <a:ea typeface="宋体" panose="02010600030101010101" pitchFamily="2" charset="-122"/>
                <a:cs typeface="宋体" panose="02010600030101010101" pitchFamily="2" charset="-122"/>
                <a:sym typeface="+mn-ea"/>
              </a:rPr>
              <a:t>这样的过程。</a:t>
            </a:r>
          </a:p>
          <a:p>
            <a:r>
              <a:rPr lang="zh-CN" altLang="en-US" sz="1400" dirty="0">
                <a:latin typeface="宋体" panose="02010600030101010101" pitchFamily="2" charset="-122"/>
                <a:ea typeface="宋体" panose="02010600030101010101" pitchFamily="2" charset="-122"/>
                <a:cs typeface="宋体" panose="02010600030101010101" pitchFamily="2" charset="-122"/>
                <a:sym typeface="+mn-ea"/>
              </a:rPr>
              <a:t>下图显示了交换过程，从</a:t>
            </a:r>
            <a:r>
              <a:rPr lang="en-US" altLang="zh-CN" sz="1400" dirty="0" err="1">
                <a:latin typeface="Times New Roman" panose="02020603050405020304" charset="0"/>
                <a:ea typeface="宋体" panose="02010600030101010101" pitchFamily="2" charset="-122"/>
                <a:cs typeface="Times New Roman" panose="02020603050405020304" charset="0"/>
                <a:sym typeface="+mn-ea"/>
              </a:rPr>
              <a:t>i</a:t>
            </a:r>
            <a:r>
              <a:rPr lang="zh-CN" altLang="en-US" sz="1400" dirty="0">
                <a:latin typeface="宋体" panose="02010600030101010101" pitchFamily="2" charset="-122"/>
                <a:ea typeface="宋体" panose="02010600030101010101" pitchFamily="2" charset="-122"/>
                <a:cs typeface="宋体" panose="02010600030101010101" pitchFamily="2" charset="-122"/>
                <a:sym typeface="+mn-ea"/>
              </a:rPr>
              <a:t>到</a:t>
            </a:r>
            <a:r>
              <a:rPr lang="en-US" altLang="zh-CN" sz="1400" dirty="0" err="1">
                <a:latin typeface="Times New Roman" panose="02020603050405020304" charset="0"/>
                <a:ea typeface="宋体" panose="02010600030101010101" pitchFamily="2" charset="-122"/>
                <a:cs typeface="Times New Roman" panose="02020603050405020304" charset="0"/>
                <a:sym typeface="+mn-ea"/>
              </a:rPr>
              <a:t>i</a:t>
            </a:r>
            <a:r>
              <a:rPr lang="zh-CN" altLang="en-US" sz="1400" dirty="0">
                <a:latin typeface="宋体" panose="02010600030101010101" pitchFamily="2" charset="-122"/>
                <a:ea typeface="宋体" panose="02010600030101010101" pitchFamily="2" charset="-122"/>
                <a:cs typeface="宋体" panose="02010600030101010101" pitchFamily="2" charset="-122"/>
                <a:sym typeface="+mn-ea"/>
              </a:rPr>
              <a:t>的这样的过程。</a:t>
            </a:r>
          </a:p>
        </p:txBody>
      </p:sp>
      <p:pic>
        <p:nvPicPr>
          <p:cNvPr id="13" name="图片 12"/>
          <p:cNvPicPr>
            <a:picLocks noChangeAspect="1"/>
          </p:cNvPicPr>
          <p:nvPr/>
        </p:nvPicPr>
        <p:blipFill>
          <a:blip r:embed="rId3"/>
          <a:stretch>
            <a:fillRect/>
          </a:stretch>
        </p:blipFill>
        <p:spPr>
          <a:xfrm>
            <a:off x="3378200" y="85090"/>
            <a:ext cx="4762500" cy="400050"/>
          </a:xfrm>
          <a:prstGeom prst="rect">
            <a:avLst/>
          </a:prstGeom>
        </p:spPr>
      </p:pic>
      <p:sp>
        <p:nvSpPr>
          <p:cNvPr id="4" name="文本框 3">
            <a:extLst>
              <a:ext uri="{FF2B5EF4-FFF2-40B4-BE49-F238E27FC236}">
                <a16:creationId xmlns:a16="http://schemas.microsoft.com/office/drawing/2014/main" id="{8259C93F-D453-91E6-1241-72B617BB66D1}"/>
              </a:ext>
            </a:extLst>
          </p:cNvPr>
          <p:cNvSpPr txBox="1"/>
          <p:nvPr/>
        </p:nvSpPr>
        <p:spPr>
          <a:xfrm>
            <a:off x="5047956" y="5224390"/>
            <a:ext cx="1506071" cy="923330"/>
          </a:xfrm>
          <a:prstGeom prst="rect">
            <a:avLst/>
          </a:prstGeom>
          <a:noFill/>
        </p:spPr>
        <p:txBody>
          <a:bodyPr wrap="square" rtlCol="0">
            <a:spAutoFit/>
          </a:bodyPr>
          <a:lstStyle/>
          <a:p>
            <a:r>
              <a:rPr lang="zh-CN" altLang="en-US" dirty="0">
                <a:solidFill>
                  <a:srgbClr val="FF0000"/>
                </a:solidFill>
              </a:rPr>
              <a:t>一样尽可能给图的现象</a:t>
            </a:r>
            <a:r>
              <a:rPr lang="en-US" altLang="zh-CN" dirty="0">
                <a:solidFill>
                  <a:srgbClr val="FF0000"/>
                </a:solidFill>
              </a:rPr>
              <a:t>+</a:t>
            </a:r>
            <a:r>
              <a:rPr lang="zh-CN" altLang="en-US" dirty="0">
                <a:solidFill>
                  <a:srgbClr val="FF0000"/>
                </a:solidFill>
              </a:rPr>
              <a:t>结论</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487680" y="658142"/>
            <a:ext cx="5935980" cy="2991485"/>
          </a:xfrm>
          <a:prstGeom prst="rect">
            <a:avLst/>
          </a:prstGeom>
        </p:spPr>
      </p:pic>
      <p:sp>
        <p:nvSpPr>
          <p:cNvPr id="9" name="文本框 8"/>
          <p:cNvSpPr txBox="1"/>
          <p:nvPr/>
        </p:nvSpPr>
        <p:spPr>
          <a:xfrm>
            <a:off x="107950" y="92710"/>
            <a:ext cx="2840355" cy="392430"/>
          </a:xfrm>
          <a:prstGeom prst="rect">
            <a:avLst/>
          </a:prstGeom>
          <a:noFill/>
        </p:spPr>
        <p:txBody>
          <a:bodyPr wrap="square">
            <a:noAutofit/>
          </a:bodyPr>
          <a:lstStyle/>
          <a:p>
            <a:pPr marL="342900" indent="-342900">
              <a:buFont typeface="Wingdings" panose="05000000000000000000" pitchFamily="2" charset="2"/>
              <a:buChar char="Ø"/>
            </a:pPr>
            <a:r>
              <a:rPr lang="zh-CN" altLang="en-US" sz="2000" dirty="0">
                <a:solidFill>
                  <a:srgbClr val="FF0000"/>
                </a:solidFill>
              </a:rPr>
              <a:t>能带演化与绝热输运</a:t>
            </a:r>
          </a:p>
        </p:txBody>
      </p:sp>
      <p:pic>
        <p:nvPicPr>
          <p:cNvPr id="10" name="图片 9"/>
          <p:cNvPicPr>
            <a:picLocks noChangeAspect="1"/>
          </p:cNvPicPr>
          <p:nvPr/>
        </p:nvPicPr>
        <p:blipFill>
          <a:blip r:embed="rId3"/>
          <a:stretch>
            <a:fillRect/>
          </a:stretch>
        </p:blipFill>
        <p:spPr>
          <a:xfrm>
            <a:off x="7538720" y="43815"/>
            <a:ext cx="3183255" cy="5553710"/>
          </a:xfrm>
          <a:prstGeom prst="rect">
            <a:avLst/>
          </a:prstGeom>
        </p:spPr>
      </p:pic>
      <p:sp>
        <p:nvSpPr>
          <p:cNvPr id="11" name="文本框 10"/>
          <p:cNvSpPr txBox="1"/>
          <p:nvPr/>
        </p:nvSpPr>
        <p:spPr>
          <a:xfrm>
            <a:off x="732790" y="3869055"/>
            <a:ext cx="4967605" cy="713740"/>
          </a:xfrm>
          <a:prstGeom prst="rect">
            <a:avLst/>
          </a:prstGeom>
        </p:spPr>
        <p:txBody>
          <a:bodyPr wrap="square">
            <a:noAutofit/>
          </a:bodyPr>
          <a:lstStyle/>
          <a:p>
            <a:r>
              <a:rPr lang="zh-CN" altLang="en-US" sz="1400">
                <a:latin typeface="宋体" panose="02010600030101010101" pitchFamily="2" charset="-122"/>
                <a:ea typeface="宋体" panose="02010600030101010101" pitchFamily="2" charset="-122"/>
              </a:rPr>
              <a:t>图中显示了光场在多波导系统中的传输过程中光场分布的图。</a:t>
            </a:r>
          </a:p>
          <a:p>
            <a:r>
              <a:rPr lang="zh-CN" altLang="en-US" sz="1400">
                <a:latin typeface="宋体" panose="02010600030101010101" pitchFamily="2" charset="-122"/>
                <a:ea typeface="宋体" panose="02010600030101010101" pitchFamily="2" charset="-122"/>
              </a:rPr>
              <a:t>上面的图讲的是从</a:t>
            </a:r>
            <a:r>
              <a:rPr lang="en-US" altLang="zh-CN" sz="1400">
                <a:latin typeface="Times New Roman" panose="02020603050405020304" charset="0"/>
                <a:ea typeface="宋体" panose="02010600030101010101" pitchFamily="2" charset="-122"/>
                <a:cs typeface="Times New Roman" panose="02020603050405020304" charset="0"/>
              </a:rPr>
              <a:t>i+1</a:t>
            </a:r>
            <a:r>
              <a:rPr lang="zh-CN" altLang="en-US" sz="1400">
                <a:latin typeface="宋体" panose="02010600030101010101" pitchFamily="2" charset="-122"/>
                <a:ea typeface="宋体" panose="02010600030101010101" pitchFamily="2" charset="-122"/>
              </a:rPr>
              <a:t>到</a:t>
            </a:r>
            <a:r>
              <a:rPr lang="en-US" altLang="zh-CN" sz="1400">
                <a:latin typeface="Times New Roman" panose="02020603050405020304" charset="0"/>
                <a:ea typeface="宋体" panose="02010600030101010101" pitchFamily="2" charset="-122"/>
                <a:cs typeface="Times New Roman" panose="02020603050405020304" charset="0"/>
              </a:rPr>
              <a:t>i</a:t>
            </a:r>
            <a:r>
              <a:rPr lang="zh-CN" altLang="en-US" sz="1400">
                <a:latin typeface="宋体" panose="02010600030101010101" pitchFamily="2" charset="-122"/>
                <a:ea typeface="宋体" panose="02010600030101010101" pitchFamily="2" charset="-122"/>
              </a:rPr>
              <a:t>这样的泵浦过程。</a:t>
            </a:r>
          </a:p>
          <a:p>
            <a:r>
              <a:rPr lang="zh-CN" altLang="en-US" sz="1400">
                <a:latin typeface="宋体" panose="02010600030101010101" pitchFamily="2" charset="-122"/>
                <a:ea typeface="宋体" panose="02010600030101010101" pitchFamily="2" charset="-122"/>
              </a:rPr>
              <a:t>下面的图讲的是从</a:t>
            </a:r>
            <a:r>
              <a:rPr lang="en-US" altLang="zh-CN" sz="1400">
                <a:latin typeface="Times New Roman" panose="02020603050405020304" charset="0"/>
                <a:ea typeface="宋体" panose="02010600030101010101" pitchFamily="2" charset="-122"/>
                <a:cs typeface="Times New Roman" panose="02020603050405020304" charset="0"/>
              </a:rPr>
              <a:t>i+1</a:t>
            </a:r>
            <a:r>
              <a:rPr lang="zh-CN" altLang="en-US" sz="1400">
                <a:latin typeface="宋体" panose="02010600030101010101" pitchFamily="2" charset="-122"/>
                <a:ea typeface="宋体" panose="02010600030101010101" pitchFamily="2" charset="-122"/>
              </a:rPr>
              <a:t>到</a:t>
            </a:r>
            <a:r>
              <a:rPr lang="en-US" altLang="zh-CN" sz="1400">
                <a:latin typeface="Times New Roman" panose="02020603050405020304" charset="0"/>
                <a:ea typeface="宋体" panose="02010600030101010101" pitchFamily="2" charset="-122"/>
                <a:cs typeface="Times New Roman" panose="02020603050405020304" charset="0"/>
              </a:rPr>
              <a:t>i+1</a:t>
            </a:r>
            <a:r>
              <a:rPr lang="zh-CN" altLang="en-US" sz="1400">
                <a:latin typeface="宋体" panose="02010600030101010101" pitchFamily="2" charset="-122"/>
                <a:ea typeface="宋体" panose="02010600030101010101" pitchFamily="2" charset="-122"/>
              </a:rPr>
              <a:t>交换过程。</a:t>
            </a:r>
          </a:p>
        </p:txBody>
      </p:sp>
      <p:sp>
        <p:nvSpPr>
          <p:cNvPr id="12" name="文本框 11"/>
          <p:cNvSpPr txBox="1"/>
          <p:nvPr/>
        </p:nvSpPr>
        <p:spPr>
          <a:xfrm>
            <a:off x="6423660" y="5678170"/>
            <a:ext cx="5321300" cy="786765"/>
          </a:xfrm>
          <a:prstGeom prst="rect">
            <a:avLst/>
          </a:prstGeom>
        </p:spPr>
        <p:txBody>
          <a:bodyPr wrap="square">
            <a:noAutofit/>
          </a:bodyPr>
          <a:lstStyle/>
          <a:p>
            <a:r>
              <a:rPr lang="zh-CN" altLang="en-US" sz="1400">
                <a:latin typeface="宋体" panose="02010600030101010101" pitchFamily="2" charset="-122"/>
                <a:ea typeface="宋体" panose="02010600030101010101" pitchFamily="2" charset="-122"/>
              </a:rPr>
              <a:t>图中展示了光场在多波导中的电场强度分布，随着泵浦不同波导，光场从输入波导传递到其他波导。并且增加泵浦周期</a:t>
            </a:r>
            <a:r>
              <a:rPr lang="en-US" altLang="zh-CN" sz="1400">
                <a:latin typeface="宋体" panose="02010600030101010101" pitchFamily="2" charset="-122"/>
                <a:ea typeface="宋体" panose="02010600030101010101" pitchFamily="2" charset="-122"/>
              </a:rPr>
              <a:t>(P1,P2,P1</a:t>
            </a:r>
            <a:r>
              <a:rPr lang="zh-CN" altLang="en-US" sz="1400">
                <a:latin typeface="宋体" panose="02010600030101010101" pitchFamily="2" charset="-122"/>
                <a:ea typeface="宋体" panose="02010600030101010101" pitchFamily="2" charset="-122"/>
              </a:rPr>
              <a:t>×</a:t>
            </a:r>
            <a:r>
              <a:rPr lang="en-US" altLang="zh-CN" sz="1400">
                <a:latin typeface="宋体" panose="02010600030101010101" pitchFamily="2" charset="-122"/>
                <a:ea typeface="宋体" panose="02010600030101010101" pitchFamily="2" charset="-122"/>
              </a:rPr>
              <a:t>2,P1</a:t>
            </a:r>
            <a:r>
              <a:rPr lang="zh-CN" altLang="en-US" sz="1400">
                <a:latin typeface="宋体" panose="02010600030101010101" pitchFamily="2" charset="-122"/>
                <a:ea typeface="宋体" panose="02010600030101010101" pitchFamily="2" charset="-122"/>
              </a:rPr>
              <a:t>×</a:t>
            </a:r>
            <a:r>
              <a:rPr lang="en-US" altLang="zh-CN" sz="1400">
                <a:latin typeface="宋体" panose="02010600030101010101" pitchFamily="2" charset="-122"/>
                <a:ea typeface="宋体" panose="02010600030101010101" pitchFamily="2" charset="-122"/>
              </a:rPr>
              <a:t>3)</a:t>
            </a:r>
            <a:r>
              <a:rPr lang="zh-CN" altLang="en-US" sz="1400">
                <a:latin typeface="宋体" panose="02010600030101010101" pitchFamily="2" charset="-122"/>
                <a:ea typeface="宋体" panose="02010600030101010101" pitchFamily="2" charset="-122"/>
              </a:rPr>
              <a:t>之后，能量传输效率和系统的传输能力有显著提高。</a:t>
            </a:r>
          </a:p>
        </p:txBody>
      </p:sp>
      <p:sp>
        <p:nvSpPr>
          <p:cNvPr id="2" name="文本框 1">
            <a:extLst>
              <a:ext uri="{FF2B5EF4-FFF2-40B4-BE49-F238E27FC236}">
                <a16:creationId xmlns:a16="http://schemas.microsoft.com/office/drawing/2014/main" id="{B4958597-D633-2E32-9AF9-0CD6EF3FC867}"/>
              </a:ext>
            </a:extLst>
          </p:cNvPr>
          <p:cNvSpPr txBox="1"/>
          <p:nvPr/>
        </p:nvSpPr>
        <p:spPr>
          <a:xfrm>
            <a:off x="3245391" y="5021650"/>
            <a:ext cx="1506071" cy="1754326"/>
          </a:xfrm>
          <a:prstGeom prst="rect">
            <a:avLst/>
          </a:prstGeom>
          <a:noFill/>
        </p:spPr>
        <p:txBody>
          <a:bodyPr wrap="square" rtlCol="0">
            <a:spAutoFit/>
          </a:bodyPr>
          <a:lstStyle/>
          <a:p>
            <a:r>
              <a:rPr lang="zh-CN" altLang="en-US" dirty="0">
                <a:solidFill>
                  <a:srgbClr val="FF0000"/>
                </a:solidFill>
              </a:rPr>
              <a:t>一样尽可能给图的现象</a:t>
            </a:r>
            <a:r>
              <a:rPr lang="en-US" altLang="zh-CN" dirty="0">
                <a:solidFill>
                  <a:srgbClr val="FF0000"/>
                </a:solidFill>
              </a:rPr>
              <a:t>+</a:t>
            </a:r>
            <a:r>
              <a:rPr lang="zh-CN" altLang="en-US" dirty="0">
                <a:solidFill>
                  <a:srgbClr val="FF0000"/>
                </a:solidFill>
              </a:rPr>
              <a:t>结论，现象可以在图中批注尽可能直观</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866265" y="445135"/>
            <a:ext cx="7880985" cy="5095240"/>
          </a:xfrm>
          <a:prstGeom prst="rect">
            <a:avLst/>
          </a:prstGeom>
        </p:spPr>
      </p:pic>
      <p:sp>
        <p:nvSpPr>
          <p:cNvPr id="9" name="文本框 8"/>
          <p:cNvSpPr txBox="1"/>
          <p:nvPr/>
        </p:nvSpPr>
        <p:spPr>
          <a:xfrm>
            <a:off x="107950" y="92710"/>
            <a:ext cx="5479415" cy="392430"/>
          </a:xfrm>
          <a:prstGeom prst="rect">
            <a:avLst/>
          </a:prstGeom>
          <a:noFill/>
        </p:spPr>
        <p:txBody>
          <a:bodyPr wrap="square">
            <a:noAutofit/>
          </a:bodyPr>
          <a:lstStyle/>
          <a:p>
            <a:pPr marL="342900" indent="-342900">
              <a:buFont typeface="Wingdings" panose="05000000000000000000" pitchFamily="2" charset="2"/>
              <a:buChar char="Ø"/>
            </a:pPr>
            <a:r>
              <a:rPr lang="zh-CN" altLang="en-US" sz="2000" dirty="0">
                <a:solidFill>
                  <a:srgbClr val="FF0000"/>
                </a:solidFill>
              </a:rPr>
              <a:t>非阿贝尔</a:t>
            </a:r>
            <a:r>
              <a:rPr lang="en-US" altLang="zh-CN" sz="2000" dirty="0">
                <a:solidFill>
                  <a:srgbClr val="FF0000"/>
                </a:solidFill>
              </a:rPr>
              <a:t>Thouless</a:t>
            </a:r>
            <a:r>
              <a:rPr lang="zh-CN" altLang="en-US" sz="2000" dirty="0">
                <a:solidFill>
                  <a:srgbClr val="FF0000"/>
                </a:solidFill>
              </a:rPr>
              <a:t>泵浦：光传播与实验验证</a:t>
            </a:r>
          </a:p>
        </p:txBody>
      </p:sp>
      <p:sp>
        <p:nvSpPr>
          <p:cNvPr id="7" name="文本框 6"/>
          <p:cNvSpPr txBox="1"/>
          <p:nvPr/>
        </p:nvSpPr>
        <p:spPr>
          <a:xfrm>
            <a:off x="777240" y="5822315"/>
            <a:ext cx="3225165" cy="583565"/>
          </a:xfrm>
          <a:prstGeom prst="rect">
            <a:avLst/>
          </a:prstGeom>
        </p:spPr>
        <p:txBody>
          <a:bodyPr wrap="square">
            <a:spAutoFit/>
          </a:bodyPr>
          <a:lstStyle/>
          <a:p>
            <a:r>
              <a:rPr lang="en-US" altLang="zh-CN" sz="1600">
                <a:latin typeface="Times New Roman" panose="02020603050405020304" charset="0"/>
                <a:ea typeface="宋体" panose="02010600030101010101" pitchFamily="2" charset="-122"/>
                <a:cs typeface="Times New Roman" panose="02020603050405020304" charset="0"/>
              </a:rPr>
              <a:t>(a)</a:t>
            </a:r>
            <a:r>
              <a:rPr lang="zh-CN" altLang="en-US" sz="1600">
                <a:latin typeface="宋体" panose="02010600030101010101" pitchFamily="2" charset="-122"/>
                <a:ea typeface="宋体" panose="02010600030101010101" pitchFamily="2" charset="-122"/>
                <a:cs typeface="宋体" panose="02010600030101010101" pitchFamily="2" charset="-122"/>
              </a:rPr>
              <a:t>和</a:t>
            </a:r>
            <a:r>
              <a:rPr lang="en-US" altLang="zh-CN" sz="1600">
                <a:latin typeface="Times New Roman" panose="02020603050405020304" charset="0"/>
                <a:ea typeface="宋体" panose="02010600030101010101" pitchFamily="2" charset="-122"/>
                <a:cs typeface="Times New Roman" panose="02020603050405020304" charset="0"/>
              </a:rPr>
              <a:t>(b)</a:t>
            </a:r>
            <a:r>
              <a:rPr lang="zh-CN" altLang="en-US" sz="1600">
                <a:latin typeface="Times New Roman" panose="02020603050405020304" charset="0"/>
                <a:ea typeface="宋体" panose="02010600030101010101" pitchFamily="2" charset="-122"/>
                <a:cs typeface="Times New Roman" panose="02020603050405020304" charset="0"/>
              </a:rPr>
              <a:t>图</a:t>
            </a:r>
            <a:r>
              <a:rPr lang="zh-CN" altLang="en-US" sz="1600">
                <a:latin typeface="宋体" panose="02010600030101010101" pitchFamily="2" charset="-122"/>
                <a:ea typeface="宋体" panose="02010600030101010101" pitchFamily="2" charset="-122"/>
                <a:cs typeface="宋体" panose="02010600030101010101" pitchFamily="2" charset="-122"/>
              </a:rPr>
              <a:t>展示了</a:t>
            </a:r>
            <a:r>
              <a:rPr lang="en-US" altLang="zh-CN" sz="1600">
                <a:latin typeface="Times New Roman" panose="02020603050405020304" charset="0"/>
                <a:ea typeface="宋体" panose="02010600030101010101" pitchFamily="2" charset="-122"/>
                <a:cs typeface="Times New Roman" panose="02020603050405020304" charset="0"/>
              </a:rPr>
              <a:t>P</a:t>
            </a:r>
            <a:r>
              <a:rPr lang="en-US" altLang="zh-CN" sz="1000">
                <a:latin typeface="Times New Roman" panose="02020603050405020304" charset="0"/>
                <a:ea typeface="宋体" panose="02010600030101010101" pitchFamily="2" charset="-122"/>
                <a:cs typeface="Times New Roman" panose="02020603050405020304" charset="0"/>
              </a:rPr>
              <a:t>1</a:t>
            </a:r>
            <a:r>
              <a:rPr lang="en-US" altLang="zh-CN" sz="1600">
                <a:latin typeface="Times New Roman" panose="02020603050405020304" charset="0"/>
                <a:ea typeface="宋体" panose="02010600030101010101" pitchFamily="2" charset="-122"/>
                <a:cs typeface="Times New Roman" panose="02020603050405020304" charset="0"/>
              </a:rPr>
              <a:t>P</a:t>
            </a:r>
            <a:r>
              <a:rPr lang="en-US" altLang="zh-CN" sz="1000">
                <a:latin typeface="Times New Roman" panose="02020603050405020304" charset="0"/>
                <a:ea typeface="宋体" panose="02010600030101010101" pitchFamily="2" charset="-122"/>
                <a:cs typeface="Times New Roman" panose="02020603050405020304" charset="0"/>
              </a:rPr>
              <a:t>2</a:t>
            </a:r>
            <a:r>
              <a:rPr lang="zh-CN" altLang="en-US" sz="1600">
                <a:latin typeface="宋体" panose="02010600030101010101" pitchFamily="2" charset="-122"/>
                <a:ea typeface="宋体" panose="02010600030101010101" pitchFamily="2" charset="-122"/>
                <a:cs typeface="宋体" panose="02010600030101010101" pitchFamily="2" charset="-122"/>
              </a:rPr>
              <a:t>和</a:t>
            </a:r>
            <a:r>
              <a:rPr lang="en-US" altLang="zh-CN" sz="1600">
                <a:latin typeface="Times New Roman" panose="02020603050405020304" charset="0"/>
                <a:ea typeface="宋体" panose="02010600030101010101" pitchFamily="2" charset="-122"/>
                <a:cs typeface="Times New Roman" panose="02020603050405020304" charset="0"/>
              </a:rPr>
              <a:t>P</a:t>
            </a:r>
            <a:r>
              <a:rPr lang="en-US" altLang="zh-CN" sz="1000">
                <a:latin typeface="Times New Roman" panose="02020603050405020304" charset="0"/>
                <a:ea typeface="宋体" panose="02010600030101010101" pitchFamily="2" charset="-122"/>
                <a:cs typeface="Times New Roman" panose="02020603050405020304" charset="0"/>
              </a:rPr>
              <a:t>2</a:t>
            </a:r>
            <a:r>
              <a:rPr lang="en-US" altLang="zh-CN" sz="1600">
                <a:latin typeface="Times New Roman" panose="02020603050405020304" charset="0"/>
                <a:ea typeface="宋体" panose="02010600030101010101" pitchFamily="2" charset="-122"/>
                <a:cs typeface="Times New Roman" panose="02020603050405020304" charset="0"/>
              </a:rPr>
              <a:t>P</a:t>
            </a:r>
            <a:r>
              <a:rPr lang="en-US" altLang="zh-CN" sz="1000">
                <a:latin typeface="Times New Roman" panose="02020603050405020304" charset="0"/>
                <a:ea typeface="宋体" panose="02010600030101010101" pitchFamily="2" charset="-122"/>
                <a:cs typeface="Times New Roman" panose="02020603050405020304" charset="0"/>
              </a:rPr>
              <a:t>1</a:t>
            </a:r>
            <a:r>
              <a:rPr lang="zh-CN" altLang="en-US" sz="1600">
                <a:latin typeface="宋体" panose="02010600030101010101" pitchFamily="2" charset="-122"/>
                <a:ea typeface="宋体" panose="02010600030101010101" pitchFamily="2" charset="-122"/>
                <a:cs typeface="宋体" panose="02010600030101010101" pitchFamily="2" charset="-122"/>
              </a:rPr>
              <a:t>泵浦周期下的光传播计算。</a:t>
            </a:r>
          </a:p>
        </p:txBody>
      </p:sp>
      <p:sp>
        <p:nvSpPr>
          <p:cNvPr id="8" name="文本框 7"/>
          <p:cNvSpPr txBox="1"/>
          <p:nvPr/>
        </p:nvSpPr>
        <p:spPr>
          <a:xfrm>
            <a:off x="4161790" y="5822315"/>
            <a:ext cx="4203065" cy="829945"/>
          </a:xfrm>
          <a:prstGeom prst="rect">
            <a:avLst/>
          </a:prstGeom>
        </p:spPr>
        <p:txBody>
          <a:bodyPr wrap="square">
            <a:spAutoFit/>
          </a:bodyPr>
          <a:lstStyle/>
          <a:p>
            <a:r>
              <a:rPr lang="en-US" altLang="zh-CN" sz="1600">
                <a:latin typeface="Times New Roman" panose="02020603050405020304" charset="0"/>
                <a:ea typeface="宋体" panose="02010600030101010101" pitchFamily="2" charset="-122"/>
                <a:cs typeface="Times New Roman" panose="02020603050405020304" charset="0"/>
              </a:rPr>
              <a:t>(c)</a:t>
            </a:r>
            <a:r>
              <a:rPr lang="zh-CN" altLang="en-US" sz="1600">
                <a:latin typeface="宋体" panose="02010600030101010101" pitchFamily="2" charset="-122"/>
                <a:ea typeface="宋体" panose="02010600030101010101" pitchFamily="2" charset="-122"/>
              </a:rPr>
              <a:t>和</a:t>
            </a:r>
            <a:r>
              <a:rPr lang="en-US" altLang="zh-CN" sz="1600">
                <a:latin typeface="Times New Roman" panose="02020603050405020304" charset="0"/>
                <a:ea typeface="宋体" panose="02010600030101010101" pitchFamily="2" charset="-122"/>
                <a:cs typeface="Times New Roman" panose="02020603050405020304" charset="0"/>
              </a:rPr>
              <a:t>(d)</a:t>
            </a:r>
            <a:r>
              <a:rPr lang="zh-CN" altLang="en-US" sz="1600">
                <a:latin typeface="宋体" panose="02010600030101010101" pitchFamily="2" charset="-122"/>
                <a:ea typeface="宋体" panose="02010600030101010101" pitchFamily="2" charset="-122"/>
              </a:rPr>
              <a:t>图这些是实验测量的衍射图样，展示了光经过晶格后输出的光模式，印证了计算结果。</a:t>
            </a:r>
          </a:p>
        </p:txBody>
      </p:sp>
      <p:sp>
        <p:nvSpPr>
          <p:cNvPr id="2" name="文本框 1">
            <a:extLst>
              <a:ext uri="{FF2B5EF4-FFF2-40B4-BE49-F238E27FC236}">
                <a16:creationId xmlns:a16="http://schemas.microsoft.com/office/drawing/2014/main" id="{D977D25A-AEB1-D0CC-469B-78A02AE59836}"/>
              </a:ext>
            </a:extLst>
          </p:cNvPr>
          <p:cNvSpPr txBox="1"/>
          <p:nvPr/>
        </p:nvSpPr>
        <p:spPr>
          <a:xfrm>
            <a:off x="2768163" y="5652432"/>
            <a:ext cx="3293357" cy="923330"/>
          </a:xfrm>
          <a:prstGeom prst="rect">
            <a:avLst/>
          </a:prstGeom>
          <a:noFill/>
        </p:spPr>
        <p:txBody>
          <a:bodyPr wrap="square" rtlCol="0">
            <a:spAutoFit/>
          </a:bodyPr>
          <a:lstStyle/>
          <a:p>
            <a:r>
              <a:rPr lang="zh-CN" altLang="en-US" dirty="0">
                <a:solidFill>
                  <a:srgbClr val="FF0000"/>
                </a:solidFill>
              </a:rPr>
              <a:t>你写的太简单。</a:t>
            </a:r>
            <a:r>
              <a:rPr lang="en-US" altLang="zh-CN" dirty="0">
                <a:solidFill>
                  <a:srgbClr val="FF0000"/>
                </a:solidFill>
              </a:rPr>
              <a:t>A</a:t>
            </a:r>
            <a:r>
              <a:rPr lang="zh-CN" altLang="en-US" dirty="0">
                <a:solidFill>
                  <a:srgbClr val="FF0000"/>
                </a:solidFill>
              </a:rPr>
              <a:t>和</a:t>
            </a:r>
            <a:r>
              <a:rPr lang="en-US" altLang="zh-CN" dirty="0">
                <a:solidFill>
                  <a:srgbClr val="FF0000"/>
                </a:solidFill>
              </a:rPr>
              <a:t>b</a:t>
            </a:r>
            <a:r>
              <a:rPr lang="zh-CN" altLang="en-US" dirty="0">
                <a:solidFill>
                  <a:srgbClr val="FF0000"/>
                </a:solidFill>
              </a:rPr>
              <a:t>区别在哪，实验的现象是啥，如何与理论结果一致的？</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451</Words>
  <Application>Microsoft Office PowerPoint</Application>
  <PresentationFormat>宽屏</PresentationFormat>
  <Paragraphs>26</Paragraphs>
  <Slides>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vt:i4>
      </vt:variant>
    </vt:vector>
  </HeadingPairs>
  <TitlesOfParts>
    <vt:vector size="14" baseType="lpstr">
      <vt:lpstr>等线</vt:lpstr>
      <vt:lpstr>宋体</vt:lpstr>
      <vt:lpstr>Arial</vt:lpstr>
      <vt:lpstr>Calibri</vt:lpstr>
      <vt:lpstr>Times New Roman</vt:lpstr>
      <vt:lpstr>Wingdings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ywc</dc:creator>
  <cp:lastModifiedBy>和乐 媛心</cp:lastModifiedBy>
  <cp:revision>142</cp:revision>
  <dcterms:created xsi:type="dcterms:W3CDTF">2023-08-09T12:44:00Z</dcterms:created>
  <dcterms:modified xsi:type="dcterms:W3CDTF">2025-12-31T07:39:33Z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280283E2AC8447EAAE8E3F917CB04B04_12</vt:lpwstr>
  </property>
</Properties>
</file>